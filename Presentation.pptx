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7" roundtripDataSignature="AMtx7miQrqxkunAgG6qnI0QO+x7JYgvY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8c4651ac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8c4651ac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f9af5290c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f9af5290c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f9af5290c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f9af5290c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f9af5290c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f9af5290c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f9af5290c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f9af5290c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f9af5290c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f9af5290c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f9af5290c6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f9af5290c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oi.org/10.48550/arXiv.2303.08774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Relationship Id="rId4" Type="http://schemas.openxmlformats.org/officeDocument/2006/relationships/image" Target="../media/image1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jpg"/><Relationship Id="rId4" Type="http://schemas.openxmlformats.org/officeDocument/2006/relationships/image" Target="../media/image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jpg"/><Relationship Id="rId4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1242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600" u="sng"/>
              <a:t>“</a:t>
            </a:r>
            <a:r>
              <a:rPr b="1" lang="en" sz="3600" u="sng"/>
              <a:t>AI DRIVEN MATH ASSISTANT</a:t>
            </a:r>
            <a:r>
              <a:rPr b="1" lang="en" sz="3600" u="sng"/>
              <a:t>”</a:t>
            </a:r>
            <a:endParaRPr b="1" sz="3600" u="sng"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942925"/>
            <a:ext cx="8520600" cy="13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2400">
                <a:solidFill>
                  <a:schemeClr val="dk1"/>
                </a:solidFill>
              </a:rPr>
              <a:t>MOHAN BUDHA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6783025" y="4681800"/>
            <a:ext cx="227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DATE: </a:t>
            </a:r>
            <a:r>
              <a:rPr lang="en" sz="1600">
                <a:solidFill>
                  <a:schemeClr val="dk2"/>
                </a:solidFill>
              </a:rPr>
              <a:t>OCT 7</a:t>
            </a:r>
            <a:r>
              <a:rPr b="0" i="0" lang="en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2024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 u="sng">
                <a:solidFill>
                  <a:srgbClr val="434343"/>
                </a:solidFill>
              </a:rPr>
              <a:t>OBJECTIVE</a:t>
            </a:r>
            <a:endParaRPr b="1" u="sng">
              <a:solidFill>
                <a:srgbClr val="434343"/>
              </a:solidFill>
            </a:endParaRPr>
          </a:p>
        </p:txBody>
      </p:sp>
      <p:sp>
        <p:nvSpPr>
          <p:cNvPr id="62" name="Google Shape;62;p2"/>
          <p:cNvSpPr txBox="1"/>
          <p:nvPr>
            <p:ph idx="1" type="body"/>
          </p:nvPr>
        </p:nvSpPr>
        <p:spPr>
          <a:xfrm>
            <a:off x="311700" y="1304875"/>
            <a:ext cx="8444700" cy="33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Build a chatbot to solve math problems using GPT-4.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Integrate graph plotting for mathematical functions.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Enable OCR for detecting math problems from images.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3" name="Google Shape;6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 u="sng">
                <a:solidFill>
                  <a:srgbClr val="434343"/>
                </a:solidFill>
              </a:rPr>
              <a:t>STATEMENT OF PROBLEM</a:t>
            </a:r>
            <a:endParaRPr b="1" u="sng">
              <a:solidFill>
                <a:srgbClr val="434343"/>
              </a:solidFill>
            </a:endParaRPr>
          </a:p>
        </p:txBody>
      </p:sp>
      <p:sp>
        <p:nvSpPr>
          <p:cNvPr id="69" name="Google Shape;69;p3"/>
          <p:cNvSpPr txBox="1"/>
          <p:nvPr>
            <p:ph idx="1" type="body"/>
          </p:nvPr>
        </p:nvSpPr>
        <p:spPr>
          <a:xfrm>
            <a:off x="148875" y="1132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Accurately solve mathematical problems, graph plotting, to assist users with queries.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Extract and solve mathematical problems from images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Provide reliable solutions for mathematical problems and is user-friendly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" name="Google Shape;7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/>
          <p:nvPr>
            <p:ph type="title"/>
          </p:nvPr>
        </p:nvSpPr>
        <p:spPr>
          <a:xfrm>
            <a:off x="311700" y="69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b="1" lang="en" sz="1800" u="sng">
                <a:solidFill>
                  <a:srgbClr val="434343"/>
                </a:solidFill>
              </a:rPr>
              <a:t>LITERATURE REVIEW</a:t>
            </a:r>
            <a:endParaRPr b="1" sz="1800" u="sng">
              <a:solidFill>
                <a:srgbClr val="434343"/>
              </a:solidFill>
            </a:endParaRPr>
          </a:p>
        </p:txBody>
      </p:sp>
      <p:sp>
        <p:nvSpPr>
          <p:cNvPr id="76" name="Google Shape;76;p4"/>
          <p:cNvSpPr txBox="1"/>
          <p:nvPr>
            <p:ph idx="1" type="body"/>
          </p:nvPr>
        </p:nvSpPr>
        <p:spPr>
          <a:xfrm>
            <a:off x="215275" y="541700"/>
            <a:ext cx="8520600" cy="45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</a:pPr>
            <a:r>
              <a:rPr b="1" lang="en" sz="1400">
                <a:solidFill>
                  <a:schemeClr val="dk1"/>
                </a:solidFill>
              </a:rPr>
              <a:t>GPT-4 Technical Report</a:t>
            </a:r>
            <a:endParaRPr b="1" sz="14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300">
                <a:solidFill>
                  <a:schemeClr val="dk1"/>
                </a:solidFill>
              </a:rPr>
              <a:t>Authors</a:t>
            </a:r>
            <a:r>
              <a:rPr lang="en" sz="1300">
                <a:solidFill>
                  <a:schemeClr val="dk1"/>
                </a:solidFill>
              </a:rPr>
              <a:t>:OpenAI( </a:t>
            </a:r>
            <a:r>
              <a:rPr lang="en" sz="1300">
                <a:solidFill>
                  <a:schemeClr val="dk1"/>
                </a:solidFill>
              </a:rPr>
              <a:t>DOI: </a:t>
            </a:r>
            <a:r>
              <a:rPr lang="en" sz="1300" u="sng">
                <a:solidFill>
                  <a:schemeClr val="hlink"/>
                </a:solidFill>
                <a:hlinkClick r:id="rId3"/>
              </a:rPr>
              <a:t>doi.org/10.48550/arXiv.2303.08774</a:t>
            </a:r>
            <a:r>
              <a:rPr lang="en" sz="1300">
                <a:solidFill>
                  <a:schemeClr val="dk1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300">
                <a:solidFill>
                  <a:schemeClr val="dk1"/>
                </a:solidFill>
              </a:rPr>
              <a:t>Main Idea</a:t>
            </a:r>
            <a:r>
              <a:rPr lang="en" sz="1300">
                <a:solidFill>
                  <a:schemeClr val="dk1"/>
                </a:solidFill>
              </a:rPr>
              <a:t>: It introduces GPT-4, a large-scale multimodal model that processes</a:t>
            </a:r>
            <a:r>
              <a:rPr i="1" lang="en" sz="1300">
                <a:solidFill>
                  <a:schemeClr val="dk1"/>
                </a:solidFill>
              </a:rPr>
              <a:t> both text</a:t>
            </a:r>
            <a:endParaRPr i="1" sz="1300">
              <a:solidFill>
                <a:schemeClr val="dk1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</a:rPr>
              <a:t>and image inputs to generate text outputs.</a:t>
            </a:r>
            <a:r>
              <a:rPr lang="en" sz="1300">
                <a:solidFill>
                  <a:schemeClr val="dk1"/>
                </a:solidFill>
              </a:rPr>
              <a:t>And the report outlines the model's architecture,</a:t>
            </a:r>
            <a:endParaRPr sz="1300">
              <a:solidFill>
                <a:schemeClr val="dk1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training process, and evaluation results. Increase the model capabilities to to achieve</a:t>
            </a:r>
            <a:endParaRPr sz="13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</a:rPr>
              <a:t>human-level performance</a:t>
            </a:r>
            <a:r>
              <a:rPr lang="en" sz="1300">
                <a:solidFill>
                  <a:schemeClr val="dk1"/>
                </a:solidFill>
              </a:rPr>
              <a:t> </a:t>
            </a:r>
            <a:r>
              <a:rPr lang="en" sz="1300">
                <a:solidFill>
                  <a:schemeClr val="dk1"/>
                </a:solidFill>
              </a:rPr>
              <a:t>And </a:t>
            </a:r>
            <a:r>
              <a:rPr lang="en" sz="1300">
                <a:solidFill>
                  <a:schemeClr val="dk1"/>
                </a:solidFill>
              </a:rPr>
              <a:t>still faces c</a:t>
            </a:r>
            <a:r>
              <a:rPr lang="en" sz="1200">
                <a:solidFill>
                  <a:schemeClr val="dk1"/>
                </a:solidFill>
              </a:rPr>
              <a:t>hallenges such a</a:t>
            </a:r>
            <a:r>
              <a:rPr lang="en" sz="1200">
                <a:solidFill>
                  <a:schemeClr val="dk1"/>
                </a:solidFill>
              </a:rPr>
              <a:t>s </a:t>
            </a:r>
            <a:r>
              <a:rPr lang="en" sz="1200">
                <a:solidFill>
                  <a:schemeClr val="dk1"/>
                </a:solidFill>
              </a:rPr>
              <a:t>"</a:t>
            </a:r>
            <a:r>
              <a:rPr i="1" lang="en" sz="1200">
                <a:solidFill>
                  <a:schemeClr val="dk1"/>
                </a:solidFill>
              </a:rPr>
              <a:t>hallucinations</a:t>
            </a:r>
            <a:r>
              <a:rPr lang="en" sz="1200">
                <a:solidFill>
                  <a:schemeClr val="dk1"/>
                </a:solidFill>
              </a:rPr>
              <a:t>" (producing incorrect information) and limited context windows.</a:t>
            </a:r>
            <a:endParaRPr sz="12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</a:pPr>
            <a:r>
              <a:rPr b="1" lang="en" sz="1400">
                <a:solidFill>
                  <a:schemeClr val="dk1"/>
                </a:solidFill>
              </a:rPr>
              <a:t>A Complete Survey on LLM-based AI Chatbots</a:t>
            </a:r>
            <a:endParaRPr b="1" sz="14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➢"/>
            </a:pPr>
            <a:r>
              <a:rPr b="1" lang="en" sz="1300">
                <a:solidFill>
                  <a:schemeClr val="dk1"/>
                </a:solidFill>
              </a:rPr>
              <a:t>Authors</a:t>
            </a:r>
            <a:r>
              <a:rPr lang="en" sz="1300">
                <a:solidFill>
                  <a:schemeClr val="dk1"/>
                </a:solidFill>
              </a:rPr>
              <a:t>: Sumit Kumar Dam, Choong Seon Hong, Yu Qiao, Chaoning Zhang (</a:t>
            </a:r>
            <a:r>
              <a:rPr lang="en" sz="1300">
                <a:solidFill>
                  <a:schemeClr val="dk1"/>
                </a:solidFill>
              </a:rPr>
              <a:t>DOI: 10.48550/arXiv.2406.16937)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➢"/>
            </a:pPr>
            <a:r>
              <a:rPr b="1" lang="en" sz="1300">
                <a:solidFill>
                  <a:schemeClr val="dk1"/>
                </a:solidFill>
              </a:rPr>
              <a:t>Main Idea</a:t>
            </a:r>
            <a:r>
              <a:rPr lang="en" sz="1300">
                <a:solidFill>
                  <a:schemeClr val="dk1"/>
                </a:solidFill>
              </a:rPr>
              <a:t>: IT presents a complete survey of the evolution and </a:t>
            </a:r>
            <a:r>
              <a:rPr i="1" lang="en" sz="1300">
                <a:solidFill>
                  <a:schemeClr val="dk1"/>
                </a:solidFill>
              </a:rPr>
              <a:t>deployment of LLM-based chatbots </a:t>
            </a:r>
            <a:r>
              <a:rPr lang="en" sz="1300">
                <a:solidFill>
                  <a:schemeClr val="dk1"/>
                </a:solidFill>
              </a:rPr>
              <a:t>in various sectors examining their applications, challenges, and future directions to enhance efficiency and reliability.And compares each LLMS of different phases.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❖"/>
            </a:pPr>
            <a:r>
              <a:rPr b="1" lang="en" sz="1400">
                <a:solidFill>
                  <a:schemeClr val="dk1"/>
                </a:solidFill>
              </a:rPr>
              <a:t>MATHCHAT: Converse to Tackle Challenging Math Problems with LLM Agents </a:t>
            </a:r>
            <a:endParaRPr sz="12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➢"/>
            </a:pPr>
            <a:r>
              <a:rPr b="1" lang="en" sz="1300">
                <a:solidFill>
                  <a:schemeClr val="dk1"/>
                </a:solidFill>
              </a:rPr>
              <a:t>Authors</a:t>
            </a:r>
            <a:r>
              <a:rPr lang="en" sz="1300">
                <a:solidFill>
                  <a:schemeClr val="dk1"/>
                </a:solidFill>
              </a:rPr>
              <a:t>: Yiran Wu, Feiran Jia, Shaokun Zhang, Hangyu Li, Erkang Zhu, Yue Wang, </a:t>
            </a:r>
            <a:r>
              <a:rPr lang="en" sz="1300">
                <a:solidFill>
                  <a:schemeClr val="dk1"/>
                </a:solidFill>
              </a:rPr>
              <a:t>Yin Tat</a:t>
            </a:r>
            <a:r>
              <a:rPr lang="en" sz="1300">
                <a:solidFill>
                  <a:schemeClr val="dk1"/>
                </a:solidFill>
              </a:rPr>
              <a:t> Lee, Richard Peng, Qingyun Wu, Chi Wang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➢"/>
            </a:pPr>
            <a:r>
              <a:rPr b="1" lang="en" sz="1300">
                <a:solidFill>
                  <a:schemeClr val="dk1"/>
                </a:solidFill>
              </a:rPr>
              <a:t>Main Idea:</a:t>
            </a:r>
            <a:r>
              <a:rPr lang="en" sz="1300">
                <a:solidFill>
                  <a:schemeClr val="dk1"/>
                </a:solidFill>
              </a:rPr>
              <a:t> The paper introduces MathChat, a</a:t>
            </a:r>
            <a:r>
              <a:rPr b="1" lang="en" sz="1300">
                <a:solidFill>
                  <a:schemeClr val="dk1"/>
                </a:solidFill>
              </a:rPr>
              <a:t> conversational framework </a:t>
            </a:r>
            <a:r>
              <a:rPr lang="en" sz="1300">
                <a:solidFill>
                  <a:schemeClr val="dk1"/>
                </a:solidFill>
              </a:rPr>
              <a:t>that uses Large Language Models (LLMs) to collaboratively solve challenging mathematical problems. It combines an LLM agent and a user proxy agent to enhance problem-solving capabilities through dialogue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7" name="Google Shape;7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 u="sng">
                <a:solidFill>
                  <a:srgbClr val="434343"/>
                </a:solidFill>
              </a:rPr>
              <a:t>ABOUT DATASETS</a:t>
            </a:r>
            <a:endParaRPr b="1" u="sng">
              <a:solidFill>
                <a:srgbClr val="434343"/>
              </a:solidFill>
            </a:endParaRPr>
          </a:p>
        </p:txBody>
      </p:sp>
      <p:sp>
        <p:nvSpPr>
          <p:cNvPr id="83" name="Google Shape;83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OPEN AI :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		Used the open ai Gpt-4 model: a </a:t>
            </a:r>
            <a:r>
              <a:rPr lang="en">
                <a:solidFill>
                  <a:schemeClr val="dk1"/>
                </a:solidFill>
              </a:rPr>
              <a:t>pre-trained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dataset effectively increase the accuracy and functionality of my maths bot.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OCR Integrations: 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		Integrated </a:t>
            </a:r>
            <a:r>
              <a:rPr lang="en">
                <a:solidFill>
                  <a:schemeClr val="dk1"/>
                </a:solidFill>
              </a:rPr>
              <a:t>Tesseract, a pre-trained OCR library, to extract mathematical problems from images.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No-Custom datasets: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		Open AI API supports all fine-tuned data for my bot and To </a:t>
            </a:r>
            <a:r>
              <a:rPr lang="en">
                <a:solidFill>
                  <a:schemeClr val="dk1"/>
                </a:solidFill>
              </a:rPr>
              <a:t>maintain</a:t>
            </a:r>
            <a:r>
              <a:rPr lang="en">
                <a:solidFill>
                  <a:schemeClr val="dk1"/>
                </a:solidFill>
              </a:rPr>
              <a:t> time </a:t>
            </a:r>
            <a:r>
              <a:rPr lang="en">
                <a:solidFill>
                  <a:schemeClr val="dk1"/>
                </a:solidFill>
              </a:rPr>
              <a:t>constraint, didn’t use custom datasets.  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4" name="Google Shape;8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/>
          <p:nvPr>
            <p:ph type="title"/>
          </p:nvPr>
        </p:nvSpPr>
        <p:spPr>
          <a:xfrm>
            <a:off x="8650600" y="445025"/>
            <a:ext cx="181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t/>
            </a:r>
            <a:endParaRPr b="1" sz="600">
              <a:solidFill>
                <a:srgbClr val="434343"/>
              </a:solidFill>
            </a:endParaRPr>
          </a:p>
        </p:txBody>
      </p:sp>
      <p:sp>
        <p:nvSpPr>
          <p:cNvPr id="90" name="Google Shape;90;p6"/>
          <p:cNvSpPr txBox="1"/>
          <p:nvPr>
            <p:ph idx="1" type="body"/>
          </p:nvPr>
        </p:nvSpPr>
        <p:spPr>
          <a:xfrm>
            <a:off x="387900" y="161875"/>
            <a:ext cx="8520600" cy="46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91" name="Google Shape;9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2" name="Google Shape;92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2850" y="-161925"/>
            <a:ext cx="9144000" cy="52187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6"/>
          <p:cNvSpPr txBox="1"/>
          <p:nvPr/>
        </p:nvSpPr>
        <p:spPr>
          <a:xfrm>
            <a:off x="5889400" y="1634500"/>
            <a:ext cx="2815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 u="sng">
                <a:solidFill>
                  <a:schemeClr val="dk2"/>
                </a:solidFill>
              </a:rPr>
              <a:t>STRUCTURAL DIAGRAM </a:t>
            </a:r>
            <a:endParaRPr b="1" sz="3000" u="sng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 u="sng">
                <a:solidFill>
                  <a:srgbClr val="434343"/>
                </a:solidFill>
              </a:rPr>
              <a:t>CORE AI COMPONENT ARCHITECTURE</a:t>
            </a:r>
            <a:endParaRPr b="1" u="sng">
              <a:solidFill>
                <a:srgbClr val="434343"/>
              </a:solidFill>
            </a:endParaRPr>
          </a:p>
        </p:txBody>
      </p:sp>
      <p:sp>
        <p:nvSpPr>
          <p:cNvPr id="99" name="Google Shape;99;p7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1. OpenAI GPT-4 Model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b="1" lang="en" sz="1500">
                <a:solidFill>
                  <a:schemeClr val="dk1"/>
                </a:solidFill>
              </a:rPr>
              <a:t>Purpose</a:t>
            </a:r>
            <a:r>
              <a:rPr lang="en" sz="1500">
                <a:solidFill>
                  <a:schemeClr val="dk1"/>
                </a:solidFill>
              </a:rPr>
              <a:t>: Facilitates the </a:t>
            </a:r>
            <a:r>
              <a:rPr lang="en" sz="1500">
                <a:solidFill>
                  <a:schemeClr val="dk1"/>
                </a:solidFill>
              </a:rPr>
              <a:t>chatbot</a:t>
            </a:r>
            <a:r>
              <a:rPr lang="en" sz="1500">
                <a:solidFill>
                  <a:schemeClr val="dk1"/>
                </a:solidFill>
              </a:rPr>
              <a:t> capability to solve mathematical problems.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b="1" lang="en" sz="1500">
                <a:solidFill>
                  <a:schemeClr val="dk1"/>
                </a:solidFill>
              </a:rPr>
              <a:t>Key Features</a:t>
            </a:r>
            <a:r>
              <a:rPr lang="en" sz="1500">
                <a:solidFill>
                  <a:schemeClr val="dk1"/>
                </a:solidFill>
              </a:rPr>
              <a:t>: 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Effectively solve text based problems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Efficiency</a:t>
            </a:r>
            <a:r>
              <a:rPr lang="en" sz="1500">
                <a:solidFill>
                  <a:schemeClr val="dk1"/>
                </a:solidFill>
              </a:rPr>
              <a:t> and </a:t>
            </a:r>
            <a:r>
              <a:rPr lang="en" sz="1500">
                <a:solidFill>
                  <a:schemeClr val="dk1"/>
                </a:solidFill>
              </a:rPr>
              <a:t>accurate</a:t>
            </a:r>
            <a:r>
              <a:rPr lang="en" sz="1500">
                <a:solidFill>
                  <a:schemeClr val="dk1"/>
                </a:solidFill>
              </a:rPr>
              <a:t> in solving math problems.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2. OCR (Tesseract)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b="1" lang="en" sz="1500">
                <a:solidFill>
                  <a:schemeClr val="dk1"/>
                </a:solidFill>
              </a:rPr>
              <a:t>Purpose</a:t>
            </a:r>
            <a:r>
              <a:rPr lang="en" sz="1500">
                <a:solidFill>
                  <a:schemeClr val="dk1"/>
                </a:solidFill>
              </a:rPr>
              <a:t>: Allows the chatbot to extract mathematical problems from user-provided images.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b="1" lang="en" sz="1500">
                <a:solidFill>
                  <a:schemeClr val="dk1"/>
                </a:solidFill>
              </a:rPr>
              <a:t>Key Features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Text Extraction</a:t>
            </a:r>
            <a:r>
              <a:rPr lang="en" sz="1500">
                <a:solidFill>
                  <a:schemeClr val="dk1"/>
                </a:solidFill>
              </a:rPr>
              <a:t>: extract contents from the images.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Effective Integration</a:t>
            </a:r>
            <a:r>
              <a:rPr lang="en" sz="1500">
                <a:solidFill>
                  <a:schemeClr val="dk1"/>
                </a:solidFill>
              </a:rPr>
              <a:t>: effectively works with the GPT-4 model to respond to queries.</a:t>
            </a:r>
            <a:endParaRPr sz="1500"/>
          </a:p>
        </p:txBody>
      </p:sp>
      <p:sp>
        <p:nvSpPr>
          <p:cNvPr id="100" name="Google Shape;10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b="1" lang="en" sz="2400" u="sng">
                <a:solidFill>
                  <a:srgbClr val="434343"/>
                </a:solidFill>
              </a:rPr>
              <a:t>TRAINING SETTINGS AND </a:t>
            </a:r>
            <a:r>
              <a:rPr b="1" lang="en" sz="2400" u="sng">
                <a:solidFill>
                  <a:srgbClr val="434343"/>
                </a:solidFill>
              </a:rPr>
              <a:t>LEARNING CURVES</a:t>
            </a:r>
            <a:endParaRPr b="1" sz="2400" u="sng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b="1" lang="en" sz="2400" u="sng">
                <a:solidFill>
                  <a:srgbClr val="434343"/>
                </a:solidFill>
              </a:rPr>
              <a:t>	</a:t>
            </a:r>
            <a:endParaRPr b="1" sz="2400" u="sng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t/>
            </a:r>
            <a:endParaRPr b="1" sz="2400" u="sng">
              <a:solidFill>
                <a:srgbClr val="434343"/>
              </a:solidFill>
            </a:endParaRPr>
          </a:p>
        </p:txBody>
      </p:sp>
      <p:sp>
        <p:nvSpPr>
          <p:cNvPr id="106" name="Google Shape;106;p8"/>
          <p:cNvSpPr txBox="1"/>
          <p:nvPr>
            <p:ph idx="1" type="body"/>
          </p:nvPr>
        </p:nvSpPr>
        <p:spPr>
          <a:xfrm>
            <a:off x="195150" y="10177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b="1" lang="en">
                <a:solidFill>
                  <a:schemeClr val="dk1"/>
                </a:solidFill>
              </a:rPr>
              <a:t>Training Settings: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We use OpenAI’s pre-trained GPT-4 model, so training details like hyperparameters and loss functions are not accessible.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b="1" lang="en">
                <a:solidFill>
                  <a:schemeClr val="dk1"/>
                </a:solidFill>
              </a:rPr>
              <a:t>Learning Curves: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Since the model GPT-4 is pre-trained, I cannot provide learning curves for training or validation.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7" name="Google Shape;10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08c4651ac3_0_6"/>
          <p:cNvSpPr txBox="1"/>
          <p:nvPr>
            <p:ph type="ctrTitle"/>
          </p:nvPr>
        </p:nvSpPr>
        <p:spPr>
          <a:xfrm>
            <a:off x="150950" y="80200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None/>
            </a:pPr>
            <a:r>
              <a:rPr b="1" lang="en" sz="2400" u="sng">
                <a:solidFill>
                  <a:srgbClr val="434343"/>
                </a:solidFill>
              </a:rPr>
              <a:t>MODEL EVALUATION</a:t>
            </a:r>
            <a:endParaRPr sz="2400" u="sng"/>
          </a:p>
        </p:txBody>
      </p:sp>
      <p:sp>
        <p:nvSpPr>
          <p:cNvPr id="113" name="Google Shape;113;g308c4651ac3_0_6"/>
          <p:cNvSpPr txBox="1"/>
          <p:nvPr>
            <p:ph idx="1" type="subTitle"/>
          </p:nvPr>
        </p:nvSpPr>
        <p:spPr>
          <a:xfrm>
            <a:off x="150950" y="991025"/>
            <a:ext cx="8520600" cy="39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b="1" lang="en" sz="1800">
                <a:solidFill>
                  <a:schemeClr val="dk1"/>
                </a:solidFill>
              </a:rPr>
              <a:t>Problem-Solving Accuracy: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" sz="1800">
                <a:solidFill>
                  <a:schemeClr val="dk1"/>
                </a:solidFill>
              </a:rPr>
              <a:t>Quick and easy solutions to problems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b="1" lang="en" sz="1800">
                <a:solidFill>
                  <a:schemeClr val="dk1"/>
                </a:solidFill>
              </a:rPr>
              <a:t>Versatility</a:t>
            </a:r>
            <a:r>
              <a:rPr lang="en" sz="1800">
                <a:solidFill>
                  <a:schemeClr val="dk1"/>
                </a:solidFill>
              </a:rPr>
              <a:t>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" sz="1800">
                <a:solidFill>
                  <a:schemeClr val="dk1"/>
                </a:solidFill>
              </a:rPr>
              <a:t>Graph plotting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" sz="1800">
                <a:solidFill>
                  <a:schemeClr val="dk1"/>
                </a:solidFill>
              </a:rPr>
              <a:t>OCR</a:t>
            </a:r>
            <a:r>
              <a:rPr lang="en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b="1" lang="en" sz="1800">
                <a:solidFill>
                  <a:schemeClr val="dk1"/>
                </a:solidFill>
              </a:rPr>
              <a:t>Range of Problems: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" sz="1800">
                <a:solidFill>
                  <a:schemeClr val="dk1"/>
                </a:solidFill>
              </a:rPr>
              <a:t>Numerical problems, word problems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b="1" lang="en" sz="1800">
                <a:solidFill>
                  <a:schemeClr val="dk1"/>
                </a:solidFill>
              </a:rPr>
              <a:t>User Experience: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" sz="1800">
                <a:solidFill>
                  <a:schemeClr val="dk1"/>
                </a:solidFill>
              </a:rPr>
              <a:t>Easy interface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" sz="1800">
                <a:solidFill>
                  <a:schemeClr val="dk1"/>
                </a:solidFill>
              </a:rPr>
              <a:t>Solutions to </a:t>
            </a:r>
            <a:r>
              <a:rPr lang="en" sz="1800">
                <a:solidFill>
                  <a:schemeClr val="dk1"/>
                </a:solidFill>
              </a:rPr>
              <a:t>problems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PROBLEMS: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en" sz="1800">
                <a:solidFill>
                  <a:schemeClr val="dk1"/>
                </a:solidFill>
              </a:rPr>
              <a:t>Cannot solve case sensitive problems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en" sz="1800">
                <a:solidFill>
                  <a:schemeClr val="dk1"/>
                </a:solidFill>
              </a:rPr>
              <a:t>problems in image recognition(Advance problems, hand written)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en" sz="1800">
                <a:solidFill>
                  <a:schemeClr val="dk1"/>
                </a:solidFill>
              </a:rPr>
              <a:t>Fails if plot is not in the f(x) format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	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 u="sng">
                <a:solidFill>
                  <a:srgbClr val="434343"/>
                </a:solidFill>
              </a:rPr>
              <a:t>SYSTEM PERFORMANCE ASSESSMENT</a:t>
            </a:r>
            <a:endParaRPr b="1" u="sng">
              <a:solidFill>
                <a:srgbClr val="434343"/>
              </a:solidFill>
            </a:endParaRPr>
          </a:p>
        </p:txBody>
      </p:sp>
      <p:sp>
        <p:nvSpPr>
          <p:cNvPr id="119" name="Google Shape;119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b="1" lang="en" sz="1800">
                <a:solidFill>
                  <a:schemeClr val="dk1"/>
                </a:solidFill>
              </a:rPr>
              <a:t>Response Accuracy:</a:t>
            </a:r>
            <a:r>
              <a:rPr lang="en" sz="1800">
                <a:solidFill>
                  <a:schemeClr val="dk1"/>
                </a:solidFill>
              </a:rPr>
              <a:t>High accuracy in solving math problems, including graph plotting and OCR recognition.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b="1" lang="en" sz="1800">
                <a:solidFill>
                  <a:schemeClr val="dk1"/>
                </a:solidFill>
              </a:rPr>
              <a:t>System Latency: </a:t>
            </a:r>
            <a:r>
              <a:rPr lang="en" sz="1800">
                <a:solidFill>
                  <a:schemeClr val="dk1"/>
                </a:solidFill>
              </a:rPr>
              <a:t>Average response time is within a few seconds, suitable for real-time interaction.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b="1" lang="en" sz="1800">
                <a:solidFill>
                  <a:schemeClr val="dk1"/>
                </a:solidFill>
              </a:rPr>
              <a:t>Deployment: </a:t>
            </a:r>
            <a:r>
              <a:rPr lang="en" sz="1800">
                <a:solidFill>
                  <a:schemeClr val="dk1"/>
                </a:solidFill>
              </a:rPr>
              <a:t>Deployed via Streamlit on cloud infrastructure, using OpenAI GPT-4 API.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b="1" lang="en" sz="1800">
                <a:solidFill>
                  <a:schemeClr val="dk1"/>
                </a:solidFill>
              </a:rPr>
              <a:t>Hardware: </a:t>
            </a:r>
            <a:r>
              <a:rPr lang="en" sz="1800">
                <a:solidFill>
                  <a:schemeClr val="dk1"/>
                </a:solidFill>
              </a:rPr>
              <a:t>Standard CPU settings (e.g., Google Colab or Streamlit servers) are sufficient to run.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b="1" lang="en" sz="1800">
                <a:solidFill>
                  <a:schemeClr val="dk1"/>
                </a:solidFill>
              </a:rPr>
              <a:t>Inference:</a:t>
            </a:r>
            <a:r>
              <a:rPr lang="en" sz="1800">
                <a:solidFill>
                  <a:schemeClr val="dk1"/>
                </a:solidFill>
              </a:rPr>
              <a:t>Computation for inference is handled by OpenAI servers.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 u="sng">
                <a:solidFill>
                  <a:srgbClr val="434343"/>
                </a:solidFill>
              </a:rPr>
              <a:t>SCOPES IN REAL WORLD</a:t>
            </a:r>
            <a:endParaRPr b="1" u="sng">
              <a:solidFill>
                <a:srgbClr val="434343"/>
              </a:solidFill>
            </a:endParaRPr>
          </a:p>
        </p:txBody>
      </p:sp>
      <p:sp>
        <p:nvSpPr>
          <p:cNvPr id="126" name="Google Shape;126;p12"/>
          <p:cNvSpPr txBox="1"/>
          <p:nvPr>
            <p:ph idx="1" type="body"/>
          </p:nvPr>
        </p:nvSpPr>
        <p:spPr>
          <a:xfrm>
            <a:off x="311700" y="1170125"/>
            <a:ext cx="852060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127" name="Google Shape;12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12"/>
          <p:cNvSpPr/>
          <p:nvPr/>
        </p:nvSpPr>
        <p:spPr>
          <a:xfrm>
            <a:off x="2904075" y="2484575"/>
            <a:ext cx="2145600" cy="1254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SCOPES</a:t>
            </a:r>
            <a:endParaRPr/>
          </a:p>
        </p:txBody>
      </p:sp>
      <p:cxnSp>
        <p:nvCxnSpPr>
          <p:cNvPr id="129" name="Google Shape;129;p12"/>
          <p:cNvCxnSpPr>
            <a:stCxn id="128" idx="0"/>
          </p:cNvCxnSpPr>
          <p:nvPr/>
        </p:nvCxnSpPr>
        <p:spPr>
          <a:xfrm rot="10800000">
            <a:off x="3976875" y="2149475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p12"/>
          <p:cNvCxnSpPr>
            <a:stCxn id="128" idx="6"/>
          </p:cNvCxnSpPr>
          <p:nvPr/>
        </p:nvCxnSpPr>
        <p:spPr>
          <a:xfrm flipH="1" rot="10800000">
            <a:off x="5049675" y="3097475"/>
            <a:ext cx="325500" cy="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" name="Google Shape;131;p12"/>
          <p:cNvCxnSpPr>
            <a:stCxn id="128" idx="2"/>
          </p:cNvCxnSpPr>
          <p:nvPr/>
        </p:nvCxnSpPr>
        <p:spPr>
          <a:xfrm rot="10800000">
            <a:off x="2444475" y="3111875"/>
            <a:ext cx="45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12"/>
          <p:cNvCxnSpPr>
            <a:stCxn id="128" idx="4"/>
          </p:cNvCxnSpPr>
          <p:nvPr/>
        </p:nvCxnSpPr>
        <p:spPr>
          <a:xfrm>
            <a:off x="3976875" y="3739175"/>
            <a:ext cx="0" cy="26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" name="Google Shape;133;p12"/>
          <p:cNvSpPr/>
          <p:nvPr/>
        </p:nvSpPr>
        <p:spPr>
          <a:xfrm>
            <a:off x="5442350" y="2791100"/>
            <a:ext cx="2145600" cy="73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Easy Accessibility: support text based and image based problems.</a:t>
            </a:r>
            <a:endParaRPr/>
          </a:p>
        </p:txBody>
      </p:sp>
      <p:sp>
        <p:nvSpPr>
          <p:cNvPr id="134" name="Google Shape;134;p12"/>
          <p:cNvSpPr/>
          <p:nvPr/>
        </p:nvSpPr>
        <p:spPr>
          <a:xfrm>
            <a:off x="2789175" y="1415500"/>
            <a:ext cx="2260500" cy="73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Academic Support</a:t>
            </a:r>
            <a:endParaRPr/>
          </a:p>
        </p:txBody>
      </p:sp>
      <p:sp>
        <p:nvSpPr>
          <p:cNvPr id="135" name="Google Shape;135;p12"/>
          <p:cNvSpPr/>
          <p:nvPr/>
        </p:nvSpPr>
        <p:spPr>
          <a:xfrm>
            <a:off x="816075" y="2791025"/>
            <a:ext cx="1628400" cy="94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analysis and </a:t>
            </a:r>
            <a:r>
              <a:rPr lang="en"/>
              <a:t>visualization</a:t>
            </a:r>
            <a:r>
              <a:rPr lang="en"/>
              <a:t>: Supports graphs</a:t>
            </a:r>
            <a:endParaRPr/>
          </a:p>
        </p:txBody>
      </p:sp>
      <p:sp>
        <p:nvSpPr>
          <p:cNvPr id="136" name="Google Shape;136;p12"/>
          <p:cNvSpPr/>
          <p:nvPr/>
        </p:nvSpPr>
        <p:spPr>
          <a:xfrm>
            <a:off x="2721975" y="4007675"/>
            <a:ext cx="2653200" cy="73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in use: academia, research etc.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 u="sng">
                <a:solidFill>
                  <a:srgbClr val="434343"/>
                </a:solidFill>
              </a:rPr>
              <a:t>KEY FEATURES </a:t>
            </a:r>
            <a:endParaRPr b="1" u="sng">
              <a:solidFill>
                <a:srgbClr val="434343"/>
              </a:solidFill>
            </a:endParaRPr>
          </a:p>
        </p:txBody>
      </p:sp>
      <p:sp>
        <p:nvSpPr>
          <p:cNvPr id="142" name="Google Shape;14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u="sng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Problems Solving: Maths problems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Optical Character Recognition (OCR): </a:t>
            </a:r>
            <a:r>
              <a:rPr lang="en">
                <a:solidFill>
                  <a:schemeClr val="dk1"/>
                </a:solidFill>
              </a:rPr>
              <a:t>extract</a:t>
            </a:r>
            <a:r>
              <a:rPr lang="en">
                <a:solidFill>
                  <a:schemeClr val="dk1"/>
                </a:solidFill>
              </a:rPr>
              <a:t> text from image and solve </a:t>
            </a:r>
            <a:r>
              <a:rPr lang="en">
                <a:solidFill>
                  <a:schemeClr val="dk1"/>
                </a:solidFill>
              </a:rPr>
              <a:t>problem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Graph plotting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User friendly interface:Used streamlit (free) 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Support multiple input methods: Text and image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43" name="Google Shape;14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 u="sng">
                <a:solidFill>
                  <a:srgbClr val="434343"/>
                </a:solidFill>
              </a:rPr>
              <a:t>SYSTEM FAILURE CASES</a:t>
            </a:r>
            <a:endParaRPr b="1" u="sng">
              <a:solidFill>
                <a:srgbClr val="434343"/>
              </a:solidFill>
            </a:endParaRPr>
          </a:p>
        </p:txBody>
      </p:sp>
      <p:sp>
        <p:nvSpPr>
          <p:cNvPr id="149" name="Google Shape;149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List at max 3 failure cases of your system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If the Questions is not asked in formatted way(Case sensitive)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Don’t support advance images and hand written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Only </a:t>
            </a:r>
            <a:r>
              <a:rPr lang="en">
                <a:solidFill>
                  <a:schemeClr val="dk1"/>
                </a:solidFill>
              </a:rPr>
              <a:t>support</a:t>
            </a:r>
            <a:r>
              <a:rPr lang="en">
                <a:solidFill>
                  <a:schemeClr val="dk1"/>
                </a:solidFill>
              </a:rPr>
              <a:t> line graph so, fails if asked beyond(</a:t>
            </a:r>
            <a:r>
              <a:rPr lang="en">
                <a:solidFill>
                  <a:schemeClr val="dk1"/>
                </a:solidFill>
              </a:rPr>
              <a:t>Trigonometric</a:t>
            </a:r>
            <a:r>
              <a:rPr lang="en">
                <a:solidFill>
                  <a:schemeClr val="dk1"/>
                </a:solidFill>
              </a:rPr>
              <a:t>, linear functions, polynomial equations)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OCR Features: Only solves basic numerical maths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0" name="Google Shape;15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 u="sng">
                <a:solidFill>
                  <a:srgbClr val="434343"/>
                </a:solidFill>
              </a:rPr>
              <a:t>FUTURE ENHANCEMENT</a:t>
            </a:r>
            <a:endParaRPr b="1" u="sng">
              <a:solidFill>
                <a:srgbClr val="434343"/>
              </a:solidFill>
            </a:endParaRPr>
          </a:p>
        </p:txBody>
      </p:sp>
      <p:sp>
        <p:nvSpPr>
          <p:cNvPr id="156" name="Google Shape;15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Solve advance maths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Supports hand-written text in image and advance maths solutions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And self-learning.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Remove case </a:t>
            </a:r>
            <a:r>
              <a:rPr lang="en">
                <a:solidFill>
                  <a:schemeClr val="dk1"/>
                </a:solidFill>
              </a:rPr>
              <a:t>sensitive</a:t>
            </a:r>
            <a:r>
              <a:rPr lang="en">
                <a:solidFill>
                  <a:schemeClr val="dk1"/>
                </a:solidFill>
              </a:rPr>
              <a:t> 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" name="Google Shape;15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f9af5290c6_0_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3" name="Google Shape;163;g2f9af5290c6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275" y="841525"/>
            <a:ext cx="7361625" cy="39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2f9af5290c6_0_21"/>
          <p:cNvSpPr txBox="1"/>
          <p:nvPr/>
        </p:nvSpPr>
        <p:spPr>
          <a:xfrm>
            <a:off x="566375" y="241475"/>
            <a:ext cx="5855100" cy="554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None/>
            </a:pPr>
            <a:r>
              <a:rPr b="1" lang="en" sz="2400">
                <a:solidFill>
                  <a:srgbClr val="434343"/>
                </a:solidFill>
              </a:rPr>
              <a:t>SCREENSHOT: Main interface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f9af5290c6_0_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0" name="Google Shape;170;g2f9af5290c6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6300" y="295050"/>
            <a:ext cx="32390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2f9af5290c6_0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650" y="496074"/>
            <a:ext cx="2798800" cy="117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2f9af5290c6_0_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0725" y="2497900"/>
            <a:ext cx="4039800" cy="156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2f9af5290c6_0_27"/>
          <p:cNvSpPr txBox="1"/>
          <p:nvPr/>
        </p:nvSpPr>
        <p:spPr>
          <a:xfrm>
            <a:off x="377925" y="1666600"/>
            <a:ext cx="360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i="1" lang="en">
                <a:solidFill>
                  <a:schemeClr val="dk1"/>
                </a:solidFill>
              </a:rPr>
              <a:t>General Math Solution: </a:t>
            </a:r>
            <a:r>
              <a:rPr i="1" lang="en">
                <a:solidFill>
                  <a:schemeClr val="dk1"/>
                </a:solidFill>
              </a:rPr>
              <a:t>It Responds to various math-related questions with detailed solutions</a:t>
            </a:r>
            <a:endParaRPr i="1">
              <a:solidFill>
                <a:schemeClr val="dk2"/>
              </a:solidFill>
            </a:endParaRPr>
          </a:p>
        </p:txBody>
      </p:sp>
      <p:sp>
        <p:nvSpPr>
          <p:cNvPr id="174" name="Google Shape;174;g2f9af5290c6_0_27"/>
          <p:cNvSpPr txBox="1"/>
          <p:nvPr/>
        </p:nvSpPr>
        <p:spPr>
          <a:xfrm>
            <a:off x="335050" y="3741050"/>
            <a:ext cx="43077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1"/>
                </a:solidFill>
              </a:rPr>
              <a:t>3. Upload Your Problems: </a:t>
            </a:r>
            <a:r>
              <a:rPr i="1" lang="en">
                <a:solidFill>
                  <a:schemeClr val="dk1"/>
                </a:solidFill>
              </a:rPr>
              <a:t>It extracts text from images and detects math problems using Tesseract OCR. and solve if only </a:t>
            </a:r>
            <a:r>
              <a:rPr i="1" lang="en">
                <a:solidFill>
                  <a:schemeClr val="dk1"/>
                </a:solidFill>
              </a:rPr>
              <a:t>related</a:t>
            </a:r>
            <a:r>
              <a:rPr i="1" lang="en">
                <a:solidFill>
                  <a:schemeClr val="dk1"/>
                </a:solidFill>
              </a:rPr>
              <a:t> to maths problem.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5" name="Google Shape;175;g2f9af5290c6_0_27"/>
          <p:cNvSpPr txBox="1"/>
          <p:nvPr/>
        </p:nvSpPr>
        <p:spPr>
          <a:xfrm>
            <a:off x="5395625" y="2657475"/>
            <a:ext cx="3029700" cy="18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1"/>
                </a:solidFill>
              </a:rPr>
              <a:t>2. Plot a Graph:</a:t>
            </a:r>
            <a:r>
              <a:rPr i="1" lang="en">
                <a:solidFill>
                  <a:schemeClr val="dk1"/>
                </a:solidFill>
              </a:rPr>
              <a:t> It has two selection for graph plotting:</a:t>
            </a:r>
            <a:endParaRPr i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</a:pPr>
            <a:r>
              <a:rPr i="1" lang="en">
                <a:solidFill>
                  <a:schemeClr val="dk1"/>
                </a:solidFill>
              </a:rPr>
              <a:t>Polynomial</a:t>
            </a:r>
            <a:endParaRPr i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</a:pPr>
            <a:r>
              <a:rPr i="1" lang="en">
                <a:solidFill>
                  <a:schemeClr val="dk1"/>
                </a:solidFill>
              </a:rPr>
              <a:t>General Functions: </a:t>
            </a:r>
            <a:r>
              <a:rPr lang="en" sz="1000">
                <a:solidFill>
                  <a:schemeClr val="dk1"/>
                </a:solidFill>
              </a:rPr>
              <a:t>Trigonometric, linear</a:t>
            </a:r>
            <a:r>
              <a:rPr lang="en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f9af5290c6_0_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1" name="Google Shape;181;g2f9af5290c6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75" y="745100"/>
            <a:ext cx="3687925" cy="439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2f9af5290c6_0_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1400" y="702225"/>
            <a:ext cx="3490849" cy="47282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2f9af5290c6_0_40"/>
          <p:cNvSpPr txBox="1"/>
          <p:nvPr/>
        </p:nvSpPr>
        <p:spPr>
          <a:xfrm>
            <a:off x="1160150" y="209300"/>
            <a:ext cx="617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dk2"/>
                </a:solidFill>
              </a:rPr>
              <a:t>DEMO:GENERAL MATH SECTION</a:t>
            </a:r>
            <a:endParaRPr b="1" sz="2400" u="sng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f9af5290c6_0_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9" name="Google Shape;189;g2f9af5290c6_0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68850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2f9af5290c6_0_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4303" y="152400"/>
            <a:ext cx="2857857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2f9af5290c6_0_51"/>
          <p:cNvSpPr txBox="1"/>
          <p:nvPr/>
        </p:nvSpPr>
        <p:spPr>
          <a:xfrm>
            <a:off x="847400" y="152400"/>
            <a:ext cx="5774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 u="sng">
                <a:solidFill>
                  <a:schemeClr val="dk2"/>
                </a:solidFill>
              </a:rPr>
              <a:t>DEMO: PLOTTING GRAPH:</a:t>
            </a:r>
            <a:endParaRPr b="1" sz="2200" u="sng">
              <a:solidFill>
                <a:schemeClr val="dk2"/>
              </a:solidFill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 u="sng">
                <a:solidFill>
                  <a:schemeClr val="dk2"/>
                </a:solidFill>
              </a:rPr>
              <a:t>POLYNOMIAL</a:t>
            </a:r>
            <a:endParaRPr b="1" sz="2200" u="sng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f9af5290c6_0_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7" name="Google Shape;197;g2f9af5290c6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175" y="152400"/>
            <a:ext cx="2721769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2f9af5290c6_0_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0094" y="152400"/>
            <a:ext cx="2729522" cy="4838698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2f9af5290c6_0_57"/>
          <p:cNvSpPr txBox="1"/>
          <p:nvPr/>
        </p:nvSpPr>
        <p:spPr>
          <a:xfrm>
            <a:off x="1085150" y="220025"/>
            <a:ext cx="6172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 u="sng">
                <a:solidFill>
                  <a:schemeClr val="dk2"/>
                </a:solidFill>
              </a:rPr>
              <a:t>DEMO: PLOTTING GRAPH:</a:t>
            </a:r>
            <a:endParaRPr b="1" sz="2000" u="sng">
              <a:solidFill>
                <a:schemeClr val="dk2"/>
              </a:solidFill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 u="sng">
                <a:solidFill>
                  <a:schemeClr val="dk2"/>
                </a:solidFill>
              </a:rPr>
              <a:t>FUNCTIONS</a:t>
            </a:r>
            <a:endParaRPr b="1" sz="2000" u="sng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f9af5290c6_0_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5" name="Google Shape;205;g2f9af5290c6_0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2775" y="0"/>
            <a:ext cx="1796184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2f9af5290c6_0_63"/>
          <p:cNvSpPr txBox="1"/>
          <p:nvPr/>
        </p:nvSpPr>
        <p:spPr>
          <a:xfrm>
            <a:off x="107150" y="648650"/>
            <a:ext cx="3217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</a:rPr>
              <a:t>DEMO: OCR</a:t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</a:rPr>
              <a:t> FEATURES</a:t>
            </a:r>
            <a:endParaRPr b="1"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"/>
          <p:cNvSpPr txBox="1"/>
          <p:nvPr>
            <p:ph type="title"/>
          </p:nvPr>
        </p:nvSpPr>
        <p:spPr>
          <a:xfrm>
            <a:off x="311700" y="1999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solidFill>
                  <a:srgbClr val="434343"/>
                </a:solidFill>
              </a:rPr>
              <a:t>THANK YOU: FUSEMACHINES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212" name="Google Shape;21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